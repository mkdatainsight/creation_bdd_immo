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6" r:id="rId23"/>
    <p:sldId id="277" r:id="rId24"/>
    <p:sldId id="266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2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F810EAC-BE15-516C-4513-2678D503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A07E6AD-DDE7-7933-BA1C-88647A5E3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293C5E7-9FEE-C788-6C7D-ADF4A4F3A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FA7E792-22F5-1A0A-E451-44EC261768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6633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0D1DF4C-1C23-C899-EF73-D7F6FF9E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9E1398E-8987-8EA1-95E0-0B389A000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B592C4E-1AA8-741F-4C66-D42255796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52E54CD-963F-FF83-4477-3A583BCACE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032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88AC49E-3AE6-8F53-EA7C-C3451B6F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DDE05F7-79D6-0CFF-9744-F500505E6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1FAB4D1-0B14-F0C5-51A4-EDD1B91259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BCDF47F-57CC-AE42-8710-F6E988E552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784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DA7CEF8-C3C5-1CC1-9335-CA4A6FCF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E8E9656-FC47-E13C-E2D3-59802CE2E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C23A136-F0AA-E616-FA3B-8FDA62041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6AD61AF-05A8-19FA-94B3-B5795A15AE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5519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E057999-E99C-EF8C-D9F4-72872EBB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2B1C07B-689F-6BA8-0578-D581F570E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5780FC9-645D-74A7-7C12-35A7DDB3D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23B8106C-1974-B5F3-612D-AE277321A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810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F95DDD0-12AE-35F5-C18D-139AD664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CD92C55-DC56-C38B-A705-1429F7330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8207092E-182E-3D15-4815-94F486A37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CB260F6-2937-0689-C0C6-4E8CE29E24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4920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57EDB3E-E866-6094-0124-C232F071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4410850-DC14-DDBE-F4EA-0DB1AD883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62D25F5-9D67-63B1-8D0B-BFF1F4FCB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668F6E6-C43C-2C60-AC01-232B5BC692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8887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F15B5F1-1028-A4B1-D653-8204DB5D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406E482-F9FB-11B8-B9FC-53667934F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A85A692-78B8-B776-A4F7-107734E6A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F455070-909E-7916-75CC-FAEAEE5D79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055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5E86922-414A-26F8-DB89-0B141A79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7B8E488-0F1B-8375-1C7D-C60478D16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3099323-526D-48AA-D68F-29C7C4109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0361838-69CA-E2DC-3599-43049A4CB8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346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E1133013-9DBC-CDC0-4F9A-1FF111BD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95A5406-210E-8C56-CA9D-A447F04B81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F34B52C-2696-CEDF-1F2B-F954E51CB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5308427-60D9-17E4-E4E6-8499C67A72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5195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4D5697A-0653-834C-79E0-68FEC6FF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DB2340F1-F11C-F394-46A0-1D24E5768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FF8156C-67BC-CD58-E51D-99C238442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B9FE44AA-70FC-49B3-8184-DFE501DC0C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7322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4B118C9-B1DD-1232-2CB9-B2A5D60A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97D7B657-2FF1-E9E5-94EB-7E00CA4DD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A5BA47F-B235-DDC7-70CB-0B3BE73E4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9B14ADA-D6FB-52FB-315D-369CF1D617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9069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MK</a:t>
            </a:r>
            <a:endParaRPr lang="fr" dirty="0"/>
          </a:p>
        </p:txBody>
      </p:sp>
      <p:pic>
        <p:nvPicPr>
          <p:cNvPr id="3" name="Image 2" descr="Une image contenant plein air, bâtiment, fenêtre, façade&#10;&#10;Le contenu généré par l’IA peut être incorrect.">
            <a:extLst>
              <a:ext uri="{FF2B5EF4-FFF2-40B4-BE49-F238E27FC236}">
                <a16:creationId xmlns:a16="http://schemas.microsoft.com/office/drawing/2014/main" id="{747D5E0A-AA92-2AAB-F187-2C17F348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567" y="752281"/>
            <a:ext cx="3626169" cy="3638937"/>
          </a:xfrm>
          <a:prstGeom prst="rect">
            <a:avLst/>
          </a:prstGeom>
        </p:spPr>
      </p:pic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Projet DATAImmo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Collecte et organisation des transactions immobilières et foncières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Meilleure prévision des prix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Meilleur accompagnement</a:t>
            </a:r>
            <a:endParaRPr dirty="0"/>
          </a:p>
        </p:txBody>
      </p:sp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pic>
        <p:nvPicPr>
          <p:cNvPr id="5" name="Image 4" descr="Une image contenant plein air, ciel, fenêtre, ville&#10;&#10;Le contenu généré par l’IA peut être incorrect.">
            <a:extLst>
              <a:ext uri="{FF2B5EF4-FFF2-40B4-BE49-F238E27FC236}">
                <a16:creationId xmlns:a16="http://schemas.microsoft.com/office/drawing/2014/main" id="{367A3DFE-94EC-4DF4-37A7-DCAB7216E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777" y="-1"/>
            <a:ext cx="3857223" cy="5142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1082704" y="195081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85750" lvl="0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Données publiques</a:t>
            </a:r>
          </a:p>
          <a:p>
            <a:pPr marL="285750" lvl="0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/>
              <a:t>Eliminer les données personnelles</a:t>
            </a:r>
          </a:p>
          <a:p>
            <a:pPr marL="285750" lvl="0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lang="fr-FR" dirty="0"/>
          </a:p>
          <a:p>
            <a:pPr marL="285750" lvl="0" indent="-2857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dirty="0"/>
              <a:t>Sauvegarde sur un serveur distant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1446590" y="1731349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3 fichiers :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Données ouvertes des Demandes de valeurs foncières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Recensement de la population par commune (</a:t>
            </a:r>
            <a:r>
              <a:rPr lang="fr" i="1" dirty="0"/>
              <a:t>INSEE</a:t>
            </a:r>
            <a:r>
              <a:rPr lang="fr" dirty="0"/>
              <a:t>)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Données publiques (</a:t>
            </a:r>
            <a:r>
              <a:rPr lang="fr" i="1" dirty="0"/>
              <a:t>data.gouv</a:t>
            </a:r>
            <a:r>
              <a:rPr lang="fr" dirty="0"/>
              <a:t>) sur les régions et les communes</a:t>
            </a:r>
          </a:p>
          <a:p>
            <a:pPr marL="0" lvl="0" indent="0">
              <a:spcBef>
                <a:spcPts val="0"/>
              </a:spcBef>
              <a:buNone/>
            </a:pPr>
            <a:endParaRPr lang="fr" dirty="0"/>
          </a:p>
          <a:p>
            <a:pPr marL="0" lvl="0" indent="0">
              <a:spcBef>
                <a:spcPts val="0"/>
              </a:spcBef>
              <a:buNone/>
            </a:pPr>
            <a:endParaRPr lang="fr" dirty="0"/>
          </a:p>
          <a:p>
            <a:pPr marL="0" lvl="0" indent="0">
              <a:spcBef>
                <a:spcPts val="0"/>
              </a:spcBef>
              <a:buNone/>
            </a:pPr>
            <a:r>
              <a:rPr lang="fr" dirty="0"/>
              <a:t>Problématiques :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Noms des acheteurs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Données redondantes et/ou obsolètes</a:t>
            </a:r>
          </a:p>
          <a:p>
            <a:pPr marL="1092200" lvl="2" indent="-177800">
              <a:spcBef>
                <a:spcPts val="0"/>
              </a:spcBef>
              <a:buSzPts val="1800"/>
            </a:pPr>
            <a:r>
              <a:rPr lang="fr" dirty="0"/>
              <a:t>Organisation des fichiers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L’extrait du dictionnaire des données</a:t>
            </a:r>
            <a:endParaRPr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4565023-8B3D-1FD7-F86F-1DFE9124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52" y="1815066"/>
            <a:ext cx="7620495" cy="18616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1702F0B-82C6-5754-4376-DF201DD1C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52" y="3731303"/>
            <a:ext cx="7620495" cy="13401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D22189F-1938-F187-46F9-13B7B7B21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997" y="1300304"/>
            <a:ext cx="3254022" cy="23624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05F86A5D-FE78-EC1D-B350-D13F6FFC43DE}"/>
              </a:ext>
            </a:extLst>
          </p:cNvPr>
          <p:cNvSpPr txBox="1"/>
          <p:nvPr/>
        </p:nvSpPr>
        <p:spPr>
          <a:xfrm>
            <a:off x="2309866" y="1233758"/>
            <a:ext cx="1030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tables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diagramme">
            <a:extLst>
              <a:ext uri="{FF2B5EF4-FFF2-40B4-BE49-F238E27FC236}">
                <a16:creationId xmlns:a16="http://schemas.microsoft.com/office/drawing/2014/main" id="{0431742C-62DB-6601-6A16-F15E8D3F8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1168907"/>
            <a:ext cx="6977708" cy="37352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414348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br>
              <a:rPr lang="fr" b="0" dirty="0"/>
            </a:b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28BF5C1-89D1-3D18-A3D6-175A5AE3C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70" y="3341827"/>
            <a:ext cx="3268434" cy="169928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F7E2853-EEED-EF77-3528-EA08137E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9" y="1275325"/>
            <a:ext cx="3233573" cy="376578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2E7ED70-8DF3-61E7-43EA-81FDB191B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70" y="1275325"/>
            <a:ext cx="3268434" cy="2051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F8B172D-7026-E75D-1BDE-70FE208E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9" y="1596366"/>
            <a:ext cx="7802557" cy="70487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106B08B-ABBD-D9A5-CBCF-AA31A86B1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981" y="2571750"/>
            <a:ext cx="2256031" cy="1649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Analyse des données</a:t>
            </a:r>
            <a:endParaRPr dirty="0"/>
          </a:p>
        </p:txBody>
      </p:sp>
      <p:pic>
        <p:nvPicPr>
          <p:cNvPr id="6" name="Image 5" descr="Une image contenant plein air, bâtiment, fenêtre, façade&#10;&#10;Le contenu généré par l’IA peut être incorrect.">
            <a:extLst>
              <a:ext uri="{FF2B5EF4-FFF2-40B4-BE49-F238E27FC236}">
                <a16:creationId xmlns:a16="http://schemas.microsoft.com/office/drawing/2014/main" id="{5A6E2EC9-40B6-A3E9-BA98-179F9654B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567" y="752281"/>
            <a:ext cx="3626169" cy="3638937"/>
          </a:xfrm>
          <a:prstGeom prst="rect">
            <a:avLst/>
          </a:prstGeom>
        </p:spPr>
      </p:pic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Ajouter un pied de page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Nombre total d’appartements vendus au 1er semestre 2020</a:t>
            </a:r>
            <a:endParaRPr dirty="0"/>
          </a:p>
        </p:txBody>
      </p:sp>
      <p:pic>
        <p:nvPicPr>
          <p:cNvPr id="3" name="Image 2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68181920-AC2A-175B-67FC-FC2D77EDA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0" y="1161841"/>
            <a:ext cx="6249918" cy="213411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33D4430-B5E9-4333-D54E-C7EDFF11E5DB}"/>
              </a:ext>
            </a:extLst>
          </p:cNvPr>
          <p:cNvSpPr txBox="1"/>
          <p:nvPr/>
        </p:nvSpPr>
        <p:spPr>
          <a:xfrm>
            <a:off x="390370" y="3468248"/>
            <a:ext cx="3404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: 34169 transactions uniques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30B2937-0B77-D421-34F4-A9346B37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7C7813A-0782-9558-0A84-4655335500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714B9938-EBB8-1DCD-FDDE-B797FBB99A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331985E-816F-3B25-1272-23E95A8977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AB71ADB-EC64-B5A0-0CB7-EBC46AD6A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nombre de ventes d’appartement par région 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pour le 1er semestre 2020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A11482A-D015-5D1A-4BE0-DDC80A99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814" y="456671"/>
            <a:ext cx="2939046" cy="41539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2B2A3EA-ADC4-58A3-E7D1-9B5C52E53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8" y="1935132"/>
            <a:ext cx="5387379" cy="127323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0624445-0941-4397-4C91-7DDA836B8726}"/>
              </a:ext>
            </a:extLst>
          </p:cNvPr>
          <p:cNvSpPr txBox="1"/>
          <p:nvPr/>
        </p:nvSpPr>
        <p:spPr>
          <a:xfrm>
            <a:off x="883862" y="3403040"/>
            <a:ext cx="3747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 : 34169 transactions uniques</a:t>
            </a:r>
          </a:p>
          <a:p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Requête 1 : 31378 appartements vendus</a:t>
            </a:r>
          </a:p>
        </p:txBody>
      </p:sp>
    </p:spTree>
    <p:extLst>
      <p:ext uri="{BB962C8B-B14F-4D97-AF65-F5344CB8AC3E}">
        <p14:creationId xmlns:p14="http://schemas.microsoft.com/office/powerpoint/2010/main" val="31743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1889FB7-F7B7-8E4D-D019-CD0366780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5546A0A4-D8BD-0F5A-B4A5-A8CB59C8D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CB29C7CF-7A43-E621-CFB0-A0F6E44DFB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BC47C37-7359-D9DA-CE1D-F6378A3C71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3F80A4B-F37A-2BFE-6F6F-20DEE3F44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des ventes d’appartements par le nombre de pièces</a:t>
            </a:r>
            <a:endParaRPr dirty="0"/>
          </a:p>
        </p:txBody>
      </p:sp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B2D4B7B1-2BBD-7D70-D7F6-888B629CF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77" y="954085"/>
            <a:ext cx="4906441" cy="395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13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DB0A1BF-D57F-D7DF-D0D2-F59F2A71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852EEFE-23B4-1C3E-FC21-2247B5DBC0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FBFAD41-D6DC-9CC3-FE1E-057E4889BD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71C14FB-D758-831C-83FE-687EA34515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251CCF5-B969-8F13-D553-AA53C62B6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départements où le prix du mètre carré est le plus élevé</a:t>
            </a:r>
            <a:endParaRPr dirty="0"/>
          </a:p>
        </p:txBody>
      </p:sp>
      <p:pic>
        <p:nvPicPr>
          <p:cNvPr id="3" name="Image 2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F36F8157-8A12-6583-AA9F-FA33F457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96" y="903588"/>
            <a:ext cx="6109542" cy="399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2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C546C2A-6449-0AA2-3781-74050F24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D913BCA3-7CA6-BD21-7A2D-760334DB0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8D573D85-C164-1D6F-397A-9A473D57F52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8A1D5A7-ED62-2865-B283-7BC7C70F09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65E58749-9032-681A-CBEF-91D78B760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</a:t>
            </a:r>
            <a:endParaRPr dirty="0"/>
          </a:p>
        </p:txBody>
      </p:sp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5B8453B8-35C0-27CD-7536-107AC8EF6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70" y="1667702"/>
            <a:ext cx="7177034" cy="217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6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506157-3645-5B91-57A4-83E9B878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0D18C9D-1C88-DE57-0689-EC802FBD23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36B637E6-7E1D-5E63-C40C-D3FBED90A56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D1CCAD2-F3BF-5838-C600-1077DF1546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AD6941C-6B58-46A9-FC5A-E9E20187B7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appartements les plus chers avec la région et le nombre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de mètres carrés</a:t>
            </a:r>
            <a:endParaRPr dirty="0"/>
          </a:p>
        </p:txBody>
      </p:sp>
      <p:pic>
        <p:nvPicPr>
          <p:cNvPr id="6" name="Image 5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CCB71DB7-404D-E5DE-24F8-71BC1B8EE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740" y="989551"/>
            <a:ext cx="5037018" cy="405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7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C07CD79-1FE6-A38C-C88E-371C1592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EC7C0D6-B0A5-3D0A-D575-A284BE3439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2D532429-BDB7-8D28-BC6C-F1ED1E5B93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01C9247-9A24-F954-84DD-9A7FAF69CB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08546F23-2A30-1C34-C0E5-5D4FBAC3B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trimestre de 2020</a:t>
            </a:r>
            <a:endParaRPr dirty="0"/>
          </a:p>
        </p:txBody>
      </p:sp>
      <p:pic>
        <p:nvPicPr>
          <p:cNvPr id="3" name="Image 2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63F78D1D-4A49-25AB-AD52-979AB585D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1" y="1391834"/>
            <a:ext cx="6851066" cy="321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6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F79EF03-92CE-B806-D96D-DF6B2273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2BCD47D-57B7-28E6-9FA6-E223B6193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5F41C3BF-0AC7-6BDC-8CC0-D4E9E5731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1F9010B-C65A-B919-1307-25EE05A94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A4F1574-3EEA-D7FF-B1AE-83A189366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Le classement des régions par rapport au prix au mètre 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carré des appartements de plus de 4 pièces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569F39C-7AB8-521C-D8F6-3D93FD9BC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9" y="1091885"/>
            <a:ext cx="6400305" cy="13264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F15D1FB-557E-1774-4E3C-1FAE4E34E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39" y="2571750"/>
            <a:ext cx="3917926" cy="228471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7C16A6B-70A6-210C-3EDF-CC3F79E39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71750"/>
            <a:ext cx="3917926" cy="227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8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269B9AF-B4BC-D44F-2889-FD2FED99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C7DBCB5-A086-8A2B-056E-B09A5A8CB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7812485-18B5-6DE5-1276-629A04FD42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AE37E05-A329-5F68-3D09-EC557E7EBD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ABB0AFB-E3A1-0CA5-2FF4-1CAEAF298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pic>
        <p:nvPicPr>
          <p:cNvPr id="4" name="Image 3" descr="Une image contenant texte, logiciel, Police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85F33F6B-3043-5B23-2616-415C0A37E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0" y="1862127"/>
            <a:ext cx="7316106" cy="141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77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1373081-66AF-54CC-CC71-938CE318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E22A546-E944-938E-2F26-50AAD6132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D519FB9C-1EE7-C8C8-E4CD-072A231689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5A3AA3ED-1557-E2B6-7983-432DA95C92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CF72570-82D4-BAEF-C9C1-45DF7D4C5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pic>
        <p:nvPicPr>
          <p:cNvPr id="3" name="Image 2" descr="Une image contenant texte, capture d’écran, menu, nombre&#10;&#10;Le contenu généré par l’IA peut être incorrect.">
            <a:extLst>
              <a:ext uri="{FF2B5EF4-FFF2-40B4-BE49-F238E27FC236}">
                <a16:creationId xmlns:a16="http://schemas.microsoft.com/office/drawing/2014/main" id="{B3C1EF47-B805-92AD-9DE1-435465A47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40" y="825215"/>
            <a:ext cx="2365552" cy="4215892"/>
          </a:xfrm>
          <a:prstGeom prst="rect">
            <a:avLst/>
          </a:prstGeom>
        </p:spPr>
      </p:pic>
      <p:pic>
        <p:nvPicPr>
          <p:cNvPr id="6" name="Image 5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93BCC4B8-3123-B657-4EF2-90D8EE10C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997" y="825215"/>
            <a:ext cx="2362448" cy="421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21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0016181-7A63-C65C-19C4-9FF97303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D4E1CF25-7582-6996-F866-295C5F1BD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2B89F6FB-F28A-9F05-8D89-A5174E71236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B757B62-10B8-51C1-6F05-C6EF32D12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A2FC9F9-1929-1B7F-0E7B-2723281D4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Différence en pourcentage du prix au mètre carré entre un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appartement de 2 pièces et un appartement de 3 pièces</a:t>
            </a:r>
            <a:endParaRPr dirty="0"/>
          </a:p>
        </p:txBody>
      </p:sp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A8750715-6F05-F61F-B5D5-45AFB3A1D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70" y="1178422"/>
            <a:ext cx="6721937" cy="31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67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9F1AEE8-C983-A38E-757F-929397B0D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268C334-FD9B-F7B8-EADB-EA5F5C296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44B8571-A87E-2BE4-FB04-20F73968675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ABDB643-4D0F-1964-8371-37857C7EC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3D6DFB4-CEA1-6815-D127-D5DDC980F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 Les moyennes de valeurs foncières pour le top 3 des communes des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départements 6, 13, 33, 59 et 69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C87A69B-9EC1-B4EC-60E4-386A42884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3" y="1431986"/>
            <a:ext cx="4896014" cy="253111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0195CCA-1FC3-B232-943D-E89E3F99E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049" y="1240621"/>
            <a:ext cx="3934843" cy="29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7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5519F7C-744E-D915-AA89-9B97D724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4D2D9B1-FD63-2199-DD93-2B08E66CC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0370" y="-328096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097DC7D-2F22-2689-8694-D6CCAD204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6A506F4-CA7B-5BE5-820D-980789ECA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9740" y="532881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 Les 20 communes avec le plus de transactions pour 1000 habitants</a:t>
            </a:r>
          </a:p>
          <a:p>
            <a:pPr marL="0" lvl="0" indent="0">
              <a:spcBef>
                <a:spcPts val="0"/>
              </a:spcBef>
            </a:pPr>
            <a:r>
              <a:rPr lang="fr-FR" dirty="0"/>
              <a:t>pour les communes qui dépassent les 10 000 habitants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B7766D4-F08E-362F-809C-145E5254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456" y="980723"/>
            <a:ext cx="5679088" cy="139883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2AC704-762D-1700-3D01-C35B5112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02" y="2426890"/>
            <a:ext cx="3319089" cy="250537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133DC0-36E3-0A7B-184A-036675A65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911" y="2426890"/>
            <a:ext cx="3667178" cy="25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18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Affichage à l'écran (16:9)</PresentationFormat>
  <Paragraphs>132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Calibri</vt:lpstr>
      <vt:lpstr>Arial</vt:lpstr>
      <vt:lpstr>Arial Black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 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Marvin Kangbeni</cp:lastModifiedBy>
  <cp:revision>8</cp:revision>
  <dcterms:modified xsi:type="dcterms:W3CDTF">2026-04-10T11:29:23Z</dcterms:modified>
</cp:coreProperties>
</file>